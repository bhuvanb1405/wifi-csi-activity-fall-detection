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7" r:id="rId9"/>
    <p:sldId id="268" r:id="rId10"/>
    <p:sldId id="269" r:id="rId11"/>
    <p:sldId id="270" r:id="rId12"/>
    <p:sldId id="271" r:id="rId13"/>
    <p:sldId id="263" r:id="rId14"/>
    <p:sldId id="262" r:id="rId15"/>
    <p:sldId id="264" r:id="rId16"/>
    <p:sldId id="265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033" autoAdjust="0"/>
  </p:normalViewPr>
  <p:slideViewPr>
    <p:cSldViewPr snapToGrid="0" snapToObjects="1">
      <p:cViewPr varScale="1">
        <p:scale>
          <a:sx n="78" d="100"/>
          <a:sy n="78" d="100"/>
        </p:scale>
        <p:origin x="85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futuristic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back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662143" y="1035453"/>
            <a:ext cx="8046720" cy="113877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 dirty="0" err="1">
                <a:solidFill>
                  <a:srgbClr val="46DCFF"/>
                </a:solidFill>
                <a:latin typeface="Arial"/>
              </a:rPr>
              <a:t>WiFi</a:t>
            </a:r>
            <a:r>
              <a:rPr sz="3400" b="1" dirty="0">
                <a:solidFill>
                  <a:srgbClr val="46DCFF"/>
                </a:solidFill>
                <a:latin typeface="Arial"/>
              </a:rPr>
              <a:t>-CSI Based Human Activity</a:t>
            </a:r>
            <a:endParaRPr lang="en-US" sz="3400" b="1" dirty="0">
              <a:solidFill>
                <a:srgbClr val="46DCFF"/>
              </a:solidFill>
              <a:latin typeface="Arial"/>
            </a:endParaRPr>
          </a:p>
          <a:p>
            <a:pPr algn="l"/>
            <a:r>
              <a:rPr lang="en-US" sz="3400" b="1" dirty="0">
                <a:solidFill>
                  <a:srgbClr val="46DCFF"/>
                </a:solidFill>
                <a:latin typeface="Arial"/>
              </a:rPr>
              <a:t>           </a:t>
            </a:r>
            <a:r>
              <a:rPr sz="3400" b="1" dirty="0">
                <a:solidFill>
                  <a:srgbClr val="46DCFF"/>
                </a:solidFill>
                <a:latin typeface="Arial"/>
              </a:rPr>
              <a:t>and Fall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3658582"/>
            <a:ext cx="24806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E1F0F8"/>
                </a:solidFill>
                <a:latin typeface="Arial"/>
              </a:rPr>
              <a:t>Project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1283" y="4115823"/>
            <a:ext cx="3200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E1F0F8"/>
                </a:solidFill>
                <a:latin typeface="Arial"/>
              </a:rPr>
              <a:t>M</a:t>
            </a:r>
            <a:r>
              <a:rPr lang="en-US" sz="1600" b="0" dirty="0">
                <a:solidFill>
                  <a:srgbClr val="E1F0F8"/>
                </a:solidFill>
                <a:latin typeface="Arial"/>
              </a:rPr>
              <a:t>r</a:t>
            </a:r>
            <a:r>
              <a:rPr sz="1600" b="0" dirty="0">
                <a:solidFill>
                  <a:srgbClr val="E1F0F8"/>
                </a:solidFill>
                <a:latin typeface="Arial"/>
              </a:rPr>
              <a:t>s. K. Lakshmi
Assistant Professor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34228" y="3658582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E1F0F8"/>
                </a:solidFill>
                <a:latin typeface="Arial"/>
              </a:rPr>
              <a:t>Batch - 8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120247"/>
            <a:ext cx="43891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E1F0F8"/>
                </a:solidFill>
                <a:latin typeface="Arial"/>
              </a:rPr>
              <a:t>B. BHUVAN  -  24P81A0404
G. SUDHEER  -  24P81A0420
K. SHIVAMANI  -  24P81A0427
M. RAKESH  -  24P81A0436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34400" y="1869131"/>
            <a:ext cx="3657600" cy="1828800"/>
          </a:xfrm>
          <a:prstGeom prst="roundRect">
            <a:avLst/>
          </a:prstGeom>
          <a:solidFill>
            <a:srgbClr val="10233D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esp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2060" y="1968192"/>
            <a:ext cx="269748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futuristic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back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40080" y="442258"/>
            <a:ext cx="10515600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400" b="1" dirty="0">
                <a:solidFill>
                  <a:srgbClr val="46DCFF"/>
                </a:solidFill>
                <a:latin typeface="Arial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53957"/>
            <a:ext cx="1042416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rPr sz="2000" b="0" dirty="0">
                <a:solidFill>
                  <a:srgbClr val="E1F0F8"/>
                </a:solidFill>
              </a:rPr>
              <a:t>• </a:t>
            </a:r>
            <a:r>
              <a:rPr sz="2000" b="0" dirty="0" err="1">
                <a:solidFill>
                  <a:srgbClr val="E1F0F8"/>
                </a:solidFill>
              </a:rPr>
              <a:t>WiFi</a:t>
            </a:r>
            <a:r>
              <a:rPr sz="2000" b="0" dirty="0">
                <a:solidFill>
                  <a:srgbClr val="E1F0F8"/>
                </a:solidFill>
              </a:rPr>
              <a:t> signals travel through a room and are affected when a person moves through the signal path.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rPr sz="2000" b="0" dirty="0">
                <a:solidFill>
                  <a:srgbClr val="E1F0F8"/>
                </a:solidFill>
              </a:rPr>
              <a:t>• Channel State Information (CSI) records changes in the </a:t>
            </a:r>
            <a:r>
              <a:rPr sz="2000" b="0" dirty="0" err="1">
                <a:solidFill>
                  <a:srgbClr val="E1F0F8"/>
                </a:solidFill>
              </a:rPr>
              <a:t>WiFi</a:t>
            </a:r>
            <a:r>
              <a:rPr sz="2000" b="0" dirty="0">
                <a:solidFill>
                  <a:srgbClr val="E1F0F8"/>
                </a:solidFill>
              </a:rPr>
              <a:t> signal between a transmitter and receiver.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rPr sz="2000" b="0" dirty="0">
                <a:solidFill>
                  <a:srgbClr val="E1F0F8"/>
                </a:solidFill>
              </a:rPr>
              <a:t>• Different activities such as walking, sitting and falling can produce different CSI patterns.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rPr sz="2000" b="0" dirty="0">
                <a:solidFill>
                  <a:srgbClr val="E1F0F8"/>
                </a:solidFill>
              </a:rPr>
              <a:t>• The system uses these changes to recognize human activity.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rPr sz="2000" b="0" dirty="0">
                <a:solidFill>
                  <a:srgbClr val="E1F0F8"/>
                </a:solidFill>
              </a:rPr>
              <a:t>• The main idea is to detect activity without using cameras or wearable devices.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170432"/>
            <a:ext cx="114300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Arc 7"/>
          <p:cNvSpPr/>
          <p:nvPr/>
        </p:nvSpPr>
        <p:spPr>
          <a:xfrm>
            <a:off x="9056493" y="3870145"/>
            <a:ext cx="1828800" cy="1828800"/>
          </a:xfrm>
          <a:prstGeom prst="arc">
            <a:avLst/>
          </a:prstGeom>
          <a:noFill/>
          <a:ln w="381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1161288"/>
            <a:ext cx="1463040" cy="41148"/>
          </a:xfrm>
          <a:prstGeom prst="rect">
            <a:avLst/>
          </a:prstGeom>
          <a:solidFill>
            <a:srgbClr val="3C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Wave 10"/>
          <p:cNvSpPr/>
          <p:nvPr/>
        </p:nvSpPr>
        <p:spPr>
          <a:xfrm>
            <a:off x="8050653" y="4555945"/>
            <a:ext cx="2834640" cy="1143000"/>
          </a:xfrm>
          <a:prstGeom prst="wave">
            <a:avLst/>
          </a:prstGeom>
          <a:noFill/>
          <a:ln w="38100">
            <a:solidFill>
              <a:srgbClr val="3C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futuristic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back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54539" y="456914"/>
            <a:ext cx="1051560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 dirty="0">
                <a:solidFill>
                  <a:srgbClr val="46DCFF"/>
                </a:solidFill>
                <a:latin typeface="Arial"/>
              </a:rPr>
              <a:t>Objective of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rPr sz="2400" b="0" dirty="0">
                <a:solidFill>
                  <a:srgbClr val="E1F0F8"/>
                </a:solidFill>
              </a:rPr>
              <a:t>• To develop a contactless method for detecting human activity using </a:t>
            </a:r>
            <a:r>
              <a:rPr sz="2400" b="0" dirty="0" err="1">
                <a:solidFill>
                  <a:srgbClr val="E1F0F8"/>
                </a:solidFill>
              </a:rPr>
              <a:t>WiFi</a:t>
            </a:r>
            <a:r>
              <a:rPr sz="2400" b="0" dirty="0">
                <a:solidFill>
                  <a:srgbClr val="E1F0F8"/>
                </a:solidFill>
              </a:rPr>
              <a:t> signals.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rPr sz="2400" b="0" dirty="0">
                <a:solidFill>
                  <a:srgbClr val="E1F0F8"/>
                </a:solidFill>
              </a:rPr>
              <a:t>• To capture CSI data using ESP32 boards.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rPr sz="2400" b="0" dirty="0">
                <a:solidFill>
                  <a:srgbClr val="E1F0F8"/>
                </a:solidFill>
              </a:rPr>
              <a:t>• To process the collected CSI data and extract useful features.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rPr sz="2400" b="0" dirty="0">
                <a:solidFill>
                  <a:srgbClr val="E1F0F8"/>
                </a:solidFill>
              </a:rPr>
              <a:t>• To use machine learning algorithms for activity classification.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rPr sz="2400" b="0" dirty="0">
                <a:solidFill>
                  <a:srgbClr val="E1F0F8"/>
                </a:solidFill>
              </a:rPr>
              <a:t>• To provide a simple approach for fall detection without a camera.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170432"/>
            <a:ext cx="114300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161288"/>
            <a:ext cx="1463040" cy="41148"/>
          </a:xfrm>
          <a:prstGeom prst="rect">
            <a:avLst/>
          </a:prstGeom>
          <a:solidFill>
            <a:srgbClr val="3C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 21"/>
          <p:cNvSpPr/>
          <p:nvPr/>
        </p:nvSpPr>
        <p:spPr>
          <a:xfrm>
            <a:off x="411480" y="1325880"/>
            <a:ext cx="11064240" cy="4983480"/>
          </a:xfrm>
          <a:prstGeom prst="roundRect">
            <a:avLst/>
          </a:prstGeom>
          <a:solidFill>
            <a:srgbClr val="05142A"/>
          </a:solidFill>
          <a:ln>
            <a:solidFill>
              <a:srgbClr val="2D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futuristic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back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40080" y="411480"/>
            <a:ext cx="10515600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dirty="0">
                <a:solidFill>
                  <a:srgbClr val="46DCFF"/>
                </a:solidFill>
                <a:latin typeface="Arial"/>
              </a:rPr>
              <a:t>Apparatus and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E1F0F8"/>
                </a:solidFill>
                <a:latin typeface="Arial"/>
              </a:rPr>
              <a:t>Hardware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4572000" cy="157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  <a:latin typeface="Arial"/>
              </a:defRPr>
            </a:pPr>
            <a:r>
              <a:rPr sz="1600" b="0" dirty="0">
                <a:solidFill>
                  <a:srgbClr val="E1F0F8"/>
                </a:solidFill>
              </a:rPr>
              <a:t>• ESP32 board</a:t>
            </a:r>
            <a:r>
              <a:rPr lang="en-US" sz="1600" b="0" dirty="0">
                <a:solidFill>
                  <a:srgbClr val="E1F0F8"/>
                </a:solidFill>
              </a:rPr>
              <a:t> (</a:t>
            </a:r>
            <a:r>
              <a:rPr lang="en-US" sz="1600" b="0" dirty="0" err="1">
                <a:solidFill>
                  <a:srgbClr val="E1F0F8"/>
                </a:solidFill>
              </a:rPr>
              <a:t>Reciever</a:t>
            </a:r>
            <a:r>
              <a:rPr lang="en-US" sz="1600" b="0" dirty="0">
                <a:solidFill>
                  <a:srgbClr val="E1F0F8"/>
                </a:solidFill>
              </a:rPr>
              <a:t>)</a:t>
            </a:r>
            <a:endParaRPr sz="1600" b="0" dirty="0">
              <a:solidFill>
                <a:srgbClr val="E1F0F8"/>
              </a:solidFill>
            </a:endParaRPr>
          </a:p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  <a:latin typeface="Arial"/>
              </a:defRPr>
            </a:pPr>
            <a:r>
              <a:rPr sz="1600" b="0" dirty="0">
                <a:solidFill>
                  <a:srgbClr val="E1F0F8"/>
                </a:solidFill>
              </a:rPr>
              <a:t>• USB-C cables</a:t>
            </a:r>
          </a:p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  <a:latin typeface="Arial"/>
              </a:defRPr>
            </a:pPr>
            <a:r>
              <a:rPr sz="1600" b="0" dirty="0">
                <a:solidFill>
                  <a:srgbClr val="E1F0F8"/>
                </a:solidFill>
              </a:rPr>
              <a:t>• 2.4 GHz </a:t>
            </a:r>
            <a:r>
              <a:rPr sz="1600" b="0" dirty="0" err="1">
                <a:solidFill>
                  <a:srgbClr val="E1F0F8"/>
                </a:solidFill>
              </a:rPr>
              <a:t>WiFi</a:t>
            </a:r>
            <a:r>
              <a:rPr sz="1600" b="0" dirty="0">
                <a:solidFill>
                  <a:srgbClr val="E1F0F8"/>
                </a:solidFill>
              </a:rPr>
              <a:t> router</a:t>
            </a:r>
          </a:p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  <a:latin typeface="Arial"/>
              </a:defRPr>
            </a:pPr>
            <a:r>
              <a:rPr sz="1600" b="0" dirty="0">
                <a:solidFill>
                  <a:srgbClr val="E1F0F8"/>
                </a:solidFill>
              </a:rPr>
              <a:t>• Laptop / computer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94900" y="1417320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E1F0F8"/>
                </a:solidFill>
                <a:latin typeface="Arial"/>
              </a:rPr>
              <a:t>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94900" y="1874519"/>
            <a:ext cx="4572000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32323"/>
                </a:solidFill>
                <a:latin typeface="Arial"/>
              </a:defRPr>
            </a:pPr>
            <a:r>
              <a:rPr sz="1600" b="0" dirty="0">
                <a:solidFill>
                  <a:srgbClr val="E1F0F8"/>
                </a:solidFill>
              </a:rPr>
              <a:t>• ESP-IDF v5.5</a:t>
            </a:r>
          </a:p>
          <a:p>
            <a:pPr>
              <a:spcAft>
                <a:spcPts val="1100"/>
              </a:spcAft>
              <a:defRPr sz="1700">
                <a:solidFill>
                  <a:srgbClr val="232323"/>
                </a:solidFill>
                <a:latin typeface="Arial"/>
              </a:defRPr>
            </a:pPr>
            <a:r>
              <a:rPr sz="1600" b="0" dirty="0">
                <a:solidFill>
                  <a:srgbClr val="E1F0F8"/>
                </a:solidFill>
              </a:rPr>
              <a:t>• Python</a:t>
            </a:r>
          </a:p>
          <a:p>
            <a:pPr>
              <a:spcAft>
                <a:spcPts val="1100"/>
              </a:spcAft>
              <a:defRPr sz="1700">
                <a:solidFill>
                  <a:srgbClr val="232323"/>
                </a:solidFill>
                <a:latin typeface="Arial"/>
              </a:defRPr>
            </a:pPr>
            <a:r>
              <a:rPr sz="1600" b="0" dirty="0">
                <a:solidFill>
                  <a:srgbClr val="E1F0F8"/>
                </a:solidFill>
              </a:rPr>
              <a:t>• </a:t>
            </a:r>
            <a:r>
              <a:rPr lang="en-US" sz="1600" b="0" dirty="0">
                <a:solidFill>
                  <a:srgbClr val="E1F0F8"/>
                </a:solidFill>
              </a:rPr>
              <a:t>Library packages: </a:t>
            </a:r>
          </a:p>
          <a:p>
            <a:pPr>
              <a:spcAft>
                <a:spcPts val="1100"/>
              </a:spcAft>
              <a:defRPr sz="1700">
                <a:solidFill>
                  <a:srgbClr val="232323"/>
                </a:solidFill>
                <a:latin typeface="Arial"/>
              </a:defRPr>
            </a:pPr>
            <a:r>
              <a:rPr lang="en-US" sz="1600" b="0" dirty="0">
                <a:solidFill>
                  <a:srgbClr val="E1F0F8"/>
                </a:solidFill>
              </a:rPr>
              <a:t> </a:t>
            </a:r>
            <a:r>
              <a:rPr sz="1600" b="0" dirty="0">
                <a:solidFill>
                  <a:srgbClr val="E1F0F8"/>
                </a:solidFill>
              </a:rPr>
              <a:t>pandas, NumPy and SciPy</a:t>
            </a:r>
          </a:p>
          <a:p>
            <a:pPr>
              <a:spcAft>
                <a:spcPts val="1100"/>
              </a:spcAft>
              <a:defRPr sz="1700">
                <a:solidFill>
                  <a:srgbClr val="232323"/>
                </a:solidFill>
                <a:latin typeface="Arial"/>
              </a:defRPr>
            </a:pPr>
            <a:r>
              <a:rPr sz="1600" b="0" dirty="0">
                <a:solidFill>
                  <a:srgbClr val="E1F0F8"/>
                </a:solidFill>
              </a:rPr>
              <a:t>• </a:t>
            </a:r>
            <a:r>
              <a:rPr sz="1600" b="0" dirty="0" err="1">
                <a:solidFill>
                  <a:srgbClr val="E1F0F8"/>
                </a:solidFill>
              </a:rPr>
              <a:t>Streamlit</a:t>
            </a:r>
            <a:r>
              <a:rPr lang="en-US" sz="1600" dirty="0">
                <a:solidFill>
                  <a:srgbClr val="E1F0F8"/>
                </a:solidFill>
              </a:rPr>
              <a:t> (for Dashboard)</a:t>
            </a:r>
            <a:endParaRPr sz="2400" dirty="0"/>
          </a:p>
        </p:txBody>
      </p:sp>
      <p:sp>
        <p:nvSpPr>
          <p:cNvPr id="10" name="Rectangle 9"/>
          <p:cNvSpPr/>
          <p:nvPr/>
        </p:nvSpPr>
        <p:spPr>
          <a:xfrm>
            <a:off x="640080" y="1170432"/>
            <a:ext cx="114300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esp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977639"/>
            <a:ext cx="2514600" cy="1325880"/>
          </a:xfrm>
          <a:prstGeom prst="rect">
            <a:avLst/>
          </a:prstGeom>
        </p:spPr>
      </p:pic>
      <p:pic>
        <p:nvPicPr>
          <p:cNvPr id="12" name="Picture 11" descr="usb_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3977639"/>
            <a:ext cx="2514600" cy="1325880"/>
          </a:xfrm>
          <a:prstGeom prst="rect">
            <a:avLst/>
          </a:prstGeom>
        </p:spPr>
      </p:pic>
      <p:pic>
        <p:nvPicPr>
          <p:cNvPr id="13" name="Picture 12" descr="rout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5321808"/>
            <a:ext cx="2514600" cy="1325880"/>
          </a:xfrm>
          <a:prstGeom prst="rect">
            <a:avLst/>
          </a:prstGeom>
        </p:spPr>
      </p:pic>
      <p:pic>
        <p:nvPicPr>
          <p:cNvPr id="14" name="Picture 13" descr="lapto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7560" y="5321808"/>
            <a:ext cx="2514600" cy="1325880"/>
          </a:xfrm>
          <a:prstGeom prst="rect">
            <a:avLst/>
          </a:prstGeom>
        </p:spPr>
      </p:pic>
      <p:pic>
        <p:nvPicPr>
          <p:cNvPr id="15" name="Picture 14" descr="id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67604" y="2119725"/>
            <a:ext cx="2366010" cy="1325880"/>
          </a:xfrm>
          <a:prstGeom prst="rect">
            <a:avLst/>
          </a:prstGeom>
        </p:spPr>
      </p:pic>
      <p:pic>
        <p:nvPicPr>
          <p:cNvPr id="16" name="Picture 15" descr="pyth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96750" y="3922753"/>
            <a:ext cx="2147120" cy="1325880"/>
          </a:xfrm>
          <a:prstGeom prst="rect">
            <a:avLst/>
          </a:prstGeom>
        </p:spPr>
      </p:pic>
      <p:pic>
        <p:nvPicPr>
          <p:cNvPr id="17" name="Picture 16" descr="nump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90178" y="4051317"/>
            <a:ext cx="2147120" cy="1325880"/>
          </a:xfrm>
          <a:prstGeom prst="rect">
            <a:avLst/>
          </a:prstGeom>
        </p:spPr>
      </p:pic>
      <p:pic>
        <p:nvPicPr>
          <p:cNvPr id="18" name="Picture 17" descr="sklear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48564" y="5393802"/>
            <a:ext cx="2307693" cy="1325880"/>
          </a:xfrm>
          <a:prstGeom prst="rect">
            <a:avLst/>
          </a:prstGeom>
        </p:spPr>
      </p:pic>
      <p:pic>
        <p:nvPicPr>
          <p:cNvPr id="19" name="Picture 18" descr="plo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24109" y="5377197"/>
            <a:ext cx="1892401" cy="132588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658368" y="1161288"/>
            <a:ext cx="1463040" cy="41148"/>
          </a:xfrm>
          <a:prstGeom prst="rect">
            <a:avLst/>
          </a:prstGeom>
          <a:solidFill>
            <a:srgbClr val="3C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03460" y="491568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46DCFF"/>
                </a:solidFill>
              </a:rPr>
              <a:t>SYSTEM HARDWARE + SOFTWARE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futuristic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6" name="Picture 15" descr="back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40080" y="411480"/>
            <a:ext cx="10515600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dirty="0">
                <a:solidFill>
                  <a:srgbClr val="46DCFF"/>
                </a:solidFill>
                <a:latin typeface="Arial"/>
              </a:rPr>
              <a:t>System Block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005429"/>
            <a:ext cx="1600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>
                <a:solidFill>
                  <a:srgbClr val="E1F0F8"/>
                </a:solidFill>
                <a:latin typeface="Arial"/>
              </a:rPr>
              <a:t>Human
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057400"/>
            <a:ext cx="1600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 err="1">
                <a:solidFill>
                  <a:srgbClr val="E1F0F8"/>
                </a:solidFill>
                <a:latin typeface="Arial"/>
              </a:rPr>
              <a:t>WiFi</a:t>
            </a:r>
            <a:r>
              <a:rPr sz="1600" b="0" dirty="0">
                <a:solidFill>
                  <a:srgbClr val="E1F0F8"/>
                </a:solidFill>
                <a:latin typeface="Arial"/>
              </a:rPr>
              <a:t> Signal
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2057400"/>
            <a:ext cx="1600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>
                <a:solidFill>
                  <a:srgbClr val="E1F0F8"/>
                </a:solidFill>
                <a:latin typeface="Arial"/>
              </a:rPr>
              <a:t>ESP32 CSI
Receiver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2057400"/>
            <a:ext cx="1600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>
                <a:solidFill>
                  <a:srgbClr val="E1F0F8"/>
                </a:solidFill>
                <a:latin typeface="Arial"/>
              </a:rPr>
              <a:t>Signal
Processing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83934" y="1903511"/>
            <a:ext cx="16002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>
                <a:solidFill>
                  <a:srgbClr val="E1F0F8"/>
                </a:solidFill>
                <a:latin typeface="Arial"/>
              </a:rPr>
              <a:t>Machine Learning
Classifier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2097762"/>
            <a:ext cx="502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>
                <a:solidFill>
                  <a:srgbClr val="E1F0F8"/>
                </a:solidFill>
                <a:latin typeface="Arial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097762"/>
            <a:ext cx="502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>
                <a:solidFill>
                  <a:srgbClr val="E1F0F8"/>
                </a:solidFill>
                <a:latin typeface="Arial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19" y="2148840"/>
            <a:ext cx="5029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>
                <a:solidFill>
                  <a:srgbClr val="E1F0F8"/>
                </a:solidFill>
                <a:latin typeface="Arial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0705" y="2138690"/>
            <a:ext cx="5746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>
                <a:solidFill>
                  <a:srgbClr val="E1F0F8"/>
                </a:solidFill>
                <a:latin typeface="Arial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205740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1F0F8"/>
                </a:solidFill>
                <a:latin typeface="Arial"/>
              </a:rPr>
              <a:t>Activity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63051" y="3179213"/>
            <a:ext cx="79221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>
                <a:solidFill>
                  <a:srgbClr val="E1F0F8"/>
                </a:solidFill>
                <a:latin typeface="Arial"/>
              </a:rPr>
              <a:t>Empty / Walking / Falling</a:t>
            </a:r>
            <a:r>
              <a:rPr lang="en-US" sz="1600" b="0" dirty="0">
                <a:solidFill>
                  <a:srgbClr val="E1F0F8"/>
                </a:solidFill>
                <a:latin typeface="Arial"/>
              </a:rPr>
              <a:t> / Bending / Sitting /Standing / Person /Lying</a:t>
            </a:r>
            <a:endParaRPr sz="1600" b="0" dirty="0">
              <a:solidFill>
                <a:srgbClr val="E1F0F8"/>
              </a:solidFill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89888" y="544355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>
                <a:solidFill>
                  <a:srgbClr val="E1F0F8"/>
                </a:solidFill>
                <a:latin typeface="Arial"/>
              </a:rPr>
              <a:t>TX ESP32  →  </a:t>
            </a:r>
            <a:r>
              <a:rPr sz="1600" b="0" dirty="0" err="1">
                <a:solidFill>
                  <a:srgbClr val="E1F0F8"/>
                </a:solidFill>
                <a:latin typeface="Arial"/>
              </a:rPr>
              <a:t>WiFi</a:t>
            </a:r>
            <a:r>
              <a:rPr sz="1600" b="0" dirty="0">
                <a:solidFill>
                  <a:srgbClr val="E1F0F8"/>
                </a:solidFill>
                <a:latin typeface="Arial"/>
              </a:rPr>
              <a:t> Router  →  RX ESP32  →  Laptop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1170432"/>
            <a:ext cx="114300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rou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4814" y="3890772"/>
            <a:ext cx="1508760" cy="1051560"/>
          </a:xfrm>
          <a:prstGeom prst="rect">
            <a:avLst/>
          </a:prstGeom>
        </p:spPr>
      </p:pic>
      <p:pic>
        <p:nvPicPr>
          <p:cNvPr id="21" name="Picture 20" descr="lapt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5260" y="3897802"/>
            <a:ext cx="1508760" cy="105156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58368" y="1161288"/>
            <a:ext cx="1463040" cy="41148"/>
          </a:xfrm>
          <a:prstGeom prst="rect">
            <a:avLst/>
          </a:prstGeom>
          <a:solidFill>
            <a:srgbClr val="3C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es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1746" y="4001280"/>
            <a:ext cx="1600200" cy="914400"/>
          </a:xfrm>
          <a:prstGeom prst="rect">
            <a:avLst/>
          </a:prstGeom>
        </p:spPr>
      </p:pic>
      <p:sp>
        <p:nvSpPr>
          <p:cNvPr id="30" name="Right Arrow 29"/>
          <p:cNvSpPr/>
          <p:nvPr/>
        </p:nvSpPr>
        <p:spPr>
          <a:xfrm>
            <a:off x="4325702" y="4258326"/>
            <a:ext cx="411480" cy="292608"/>
          </a:xfrm>
          <a:prstGeom prst="rightArrow">
            <a:avLst/>
          </a:prstGeom>
          <a:solidFill>
            <a:srgbClr val="3C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ight Arrow 30"/>
          <p:cNvSpPr/>
          <p:nvPr/>
        </p:nvSpPr>
        <p:spPr>
          <a:xfrm>
            <a:off x="7130292" y="4271206"/>
            <a:ext cx="411480" cy="292608"/>
          </a:xfrm>
          <a:prstGeom prst="rightArrow">
            <a:avLst/>
          </a:prstGeom>
          <a:solidFill>
            <a:srgbClr val="3C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45B7A3-8C32-8D87-1ED1-3D38426782EA}"/>
              </a:ext>
            </a:extLst>
          </p:cNvPr>
          <p:cNvSpPr txBox="1"/>
          <p:nvPr/>
        </p:nvSpPr>
        <p:spPr>
          <a:xfrm>
            <a:off x="10280218" y="2148840"/>
            <a:ext cx="4154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E1F0F8"/>
                </a:solidFill>
                <a:latin typeface="Arial"/>
              </a:rPr>
              <a:t>→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futuristic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back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40080" y="411480"/>
            <a:ext cx="10515600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dirty="0">
                <a:solidFill>
                  <a:srgbClr val="46DCFF"/>
                </a:solidFill>
                <a:latin typeface="Arial"/>
              </a:rPr>
              <a:t>Working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77985"/>
            <a:ext cx="10424160" cy="2949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50">
                <a:solidFill>
                  <a:srgbClr val="232323"/>
                </a:solidFill>
                <a:latin typeface="Arial"/>
              </a:defRPr>
            </a:pPr>
            <a:r>
              <a:rPr sz="1600" b="0" dirty="0">
                <a:solidFill>
                  <a:srgbClr val="E1F0F8"/>
                </a:solidFill>
              </a:rPr>
              <a:t>•  </a:t>
            </a:r>
            <a:r>
              <a:rPr sz="2400" b="0" dirty="0">
                <a:solidFill>
                  <a:srgbClr val="E1F0F8"/>
                </a:solidFill>
              </a:rPr>
              <a:t>Data Acquisition - ESP32 receives </a:t>
            </a:r>
            <a:r>
              <a:rPr sz="2400" b="0" dirty="0" err="1">
                <a:solidFill>
                  <a:srgbClr val="E1F0F8"/>
                </a:solidFill>
              </a:rPr>
              <a:t>WiFi</a:t>
            </a:r>
            <a:r>
              <a:rPr sz="2400" b="0" dirty="0">
                <a:solidFill>
                  <a:srgbClr val="E1F0F8"/>
                </a:solidFill>
              </a:rPr>
              <a:t> packets and captures CSI.</a:t>
            </a:r>
          </a:p>
          <a:p>
            <a:pPr>
              <a:spcAft>
                <a:spcPts val="1000"/>
              </a:spcAft>
              <a:defRPr sz="1650">
                <a:solidFill>
                  <a:srgbClr val="232323"/>
                </a:solidFill>
                <a:latin typeface="Arial"/>
              </a:defRPr>
            </a:pPr>
            <a:r>
              <a:rPr sz="2400" b="0" dirty="0">
                <a:solidFill>
                  <a:srgbClr val="E1F0F8"/>
                </a:solidFill>
              </a:rPr>
              <a:t>• </a:t>
            </a:r>
            <a:r>
              <a:rPr lang="en-US" sz="2400" dirty="0">
                <a:solidFill>
                  <a:srgbClr val="E1F0F8"/>
                </a:solidFill>
              </a:rPr>
              <a:t> </a:t>
            </a:r>
            <a:r>
              <a:rPr sz="2400" b="0" dirty="0">
                <a:solidFill>
                  <a:srgbClr val="E1F0F8"/>
                </a:solidFill>
              </a:rPr>
              <a:t>Data Logging - CSI data is recorded and stored as CSV files.</a:t>
            </a:r>
          </a:p>
          <a:p>
            <a:pPr>
              <a:spcAft>
                <a:spcPts val="1000"/>
              </a:spcAft>
              <a:defRPr sz="1650">
                <a:solidFill>
                  <a:srgbClr val="232323"/>
                </a:solidFill>
                <a:latin typeface="Arial"/>
              </a:defRPr>
            </a:pPr>
            <a:r>
              <a:rPr sz="2400" b="0" dirty="0">
                <a:solidFill>
                  <a:srgbClr val="E1F0F8"/>
                </a:solidFill>
              </a:rPr>
              <a:t>•  Signal Processing - Raw data is cleaned and normalized.</a:t>
            </a:r>
          </a:p>
          <a:p>
            <a:pPr>
              <a:spcAft>
                <a:spcPts val="1000"/>
              </a:spcAft>
              <a:defRPr sz="1650">
                <a:solidFill>
                  <a:srgbClr val="232323"/>
                </a:solidFill>
                <a:latin typeface="Arial"/>
              </a:defRPr>
            </a:pPr>
            <a:r>
              <a:rPr sz="2400" b="0" dirty="0">
                <a:solidFill>
                  <a:srgbClr val="E1F0F8"/>
                </a:solidFill>
              </a:rPr>
              <a:t>•  Feature Extraction - Statistical features are calculated from CSI.</a:t>
            </a:r>
          </a:p>
          <a:p>
            <a:pPr>
              <a:spcAft>
                <a:spcPts val="1000"/>
              </a:spcAft>
              <a:defRPr sz="1650">
                <a:solidFill>
                  <a:srgbClr val="232323"/>
                </a:solidFill>
                <a:latin typeface="Arial"/>
              </a:defRPr>
            </a:pPr>
            <a:r>
              <a:rPr sz="2400" b="0" dirty="0">
                <a:solidFill>
                  <a:srgbClr val="E1F0F8"/>
                </a:solidFill>
              </a:rPr>
              <a:t>•  Classification - Features are given to SVM and Random Forest models.</a:t>
            </a:r>
          </a:p>
          <a:p>
            <a:pPr>
              <a:spcAft>
                <a:spcPts val="1000"/>
              </a:spcAft>
              <a:defRPr sz="1650">
                <a:solidFill>
                  <a:srgbClr val="232323"/>
                </a:solidFill>
                <a:latin typeface="Arial"/>
              </a:defRPr>
            </a:pPr>
            <a:r>
              <a:rPr sz="2400" b="0" dirty="0">
                <a:solidFill>
                  <a:srgbClr val="E1F0F8"/>
                </a:solidFill>
              </a:rPr>
              <a:t>•  Activity Detection - The trained model gives the activity label.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170432"/>
            <a:ext cx="114300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" y="1481328"/>
            <a:ext cx="384048" cy="32918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 dirty="0">
                <a:solidFill>
                  <a:srgbClr val="E1F0F8"/>
                </a:solidFill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984248"/>
            <a:ext cx="384048" cy="32918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E1F0F8"/>
                </a:solidFill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487168"/>
            <a:ext cx="384048" cy="32918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 dirty="0">
                <a:solidFill>
                  <a:srgbClr val="E1F0F8"/>
                </a:solidFill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2990088"/>
            <a:ext cx="384048" cy="32918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 dirty="0">
                <a:solidFill>
                  <a:srgbClr val="E1F0F8"/>
                </a:solidFill>
              </a:rP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" y="3493008"/>
            <a:ext cx="384048" cy="32918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 dirty="0">
                <a:solidFill>
                  <a:srgbClr val="E1F0F8"/>
                </a:solidFill>
              </a:rP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3995928"/>
            <a:ext cx="384048" cy="32918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E1F0F8"/>
                </a:solidFill>
              </a:rPr>
              <a:t>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1161288"/>
            <a:ext cx="1463040" cy="41148"/>
          </a:xfrm>
          <a:prstGeom prst="rect">
            <a:avLst/>
          </a:prstGeom>
          <a:solidFill>
            <a:srgbClr val="3C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E2F6D71-1A5A-E2EE-0A34-2627FF858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7320"/>
            <a:ext cx="2610465" cy="11430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46DCFF"/>
                </a:solidFill>
                <a:latin typeface="Arial"/>
              </a:rPr>
              <a:t>OUTPUT:</a:t>
            </a:r>
            <a:endParaRPr lang="en-IN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1F4B98-EBF5-F4BE-AB00-AF96265B92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191595"/>
            <a:ext cx="12192000" cy="451121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4BBB26D-71E9-6F92-5648-479B154F58D0}"/>
              </a:ext>
            </a:extLst>
          </p:cNvPr>
          <p:cNvSpPr txBox="1"/>
          <p:nvPr/>
        </p:nvSpPr>
        <p:spPr>
          <a:xfrm>
            <a:off x="167147" y="1186807"/>
            <a:ext cx="104615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CHANNEL STATE INFORMATION (CSI) DATA:</a:t>
            </a:r>
            <a:endParaRPr lang="en-IN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1853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C7E6C1-DACF-8614-EB58-E63F8A3C52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640" y="993058"/>
            <a:ext cx="9114502" cy="573466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F022AEC-90EB-3257-F625-3033CD387A7E}"/>
              </a:ext>
            </a:extLst>
          </p:cNvPr>
          <p:cNvSpPr txBox="1"/>
          <p:nvPr/>
        </p:nvSpPr>
        <p:spPr>
          <a:xfrm>
            <a:off x="255640" y="204142"/>
            <a:ext cx="9497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 STREAM-LIT DASHBOARD:</a:t>
            </a:r>
            <a:endParaRPr lang="en-IN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8225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715B5E9-315C-0097-9BF2-80B913592DBB}"/>
              </a:ext>
            </a:extLst>
          </p:cNvPr>
          <p:cNvSpPr txBox="1"/>
          <p:nvPr/>
        </p:nvSpPr>
        <p:spPr>
          <a:xfrm>
            <a:off x="3048000" y="3262181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0" dirty="0">
                <a:solidFill>
                  <a:srgbClr val="E1F0F8"/>
                </a:solidFill>
                <a:latin typeface="Arial"/>
              </a:rPr>
              <a:t>→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48649A-EE39-87C2-A64E-7FF1B0106C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421" y="1152525"/>
            <a:ext cx="7200900" cy="570547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ECA4285-CD38-225C-174E-F70D246AB63E}"/>
              </a:ext>
            </a:extLst>
          </p:cNvPr>
          <p:cNvSpPr txBox="1"/>
          <p:nvPr/>
        </p:nvSpPr>
        <p:spPr>
          <a:xfrm>
            <a:off x="403122" y="283875"/>
            <a:ext cx="7200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OUTPUT CLASSIFIER:</a:t>
            </a:r>
            <a:endParaRPr lang="en-IN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7771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34F306D-9A2D-CF0E-DCF7-4D3BF697BA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354" y="953730"/>
            <a:ext cx="7626376" cy="5712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6002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C1F143C-96EE-552E-C0B5-36488CCFF9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110" y="1160207"/>
            <a:ext cx="10441858" cy="5554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4557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FF55F5-FC0D-8515-CB41-42C32329F5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942" y="806245"/>
            <a:ext cx="8672051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016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futuristic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back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38200" y="410005"/>
            <a:ext cx="10515600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dirty="0">
                <a:solidFill>
                  <a:srgbClr val="46DCFF"/>
                </a:solidFill>
                <a:latin typeface="Arial"/>
              </a:rPr>
              <a:t>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rPr sz="2000" b="0" dirty="0">
                <a:solidFill>
                  <a:srgbClr val="E1F0F8"/>
                </a:solidFill>
              </a:rPr>
              <a:t>• No camera is required.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rPr sz="2000" b="0" dirty="0">
                <a:solidFill>
                  <a:srgbClr val="E1F0F8"/>
                </a:solidFill>
              </a:rPr>
              <a:t>• No wearable device is required.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rPr sz="2000" b="0" dirty="0">
                <a:solidFill>
                  <a:srgbClr val="E1F0F8"/>
                </a:solidFill>
              </a:rPr>
              <a:t>• Provides privacy compared with camera-based monitoring.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rPr sz="2000" b="0" dirty="0">
                <a:solidFill>
                  <a:srgbClr val="E1F0F8"/>
                </a:solidFill>
              </a:rPr>
              <a:t>• Can work without depending on room lighting.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rPr sz="2000" b="0" dirty="0">
                <a:solidFill>
                  <a:srgbClr val="E1F0F8"/>
                </a:solidFill>
              </a:rPr>
              <a:t>• Uses low-cost ESP32 hardware.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rPr sz="2000" b="0" dirty="0">
                <a:solidFill>
                  <a:srgbClr val="E1F0F8"/>
                </a:solidFill>
              </a:rPr>
              <a:t>• Can be developed using existing </a:t>
            </a:r>
            <a:r>
              <a:rPr sz="2000" b="0" dirty="0" err="1">
                <a:solidFill>
                  <a:srgbClr val="E1F0F8"/>
                </a:solidFill>
              </a:rPr>
              <a:t>WiFi</a:t>
            </a:r>
            <a:r>
              <a:rPr sz="2000" b="0" dirty="0">
                <a:solidFill>
                  <a:srgbClr val="E1F0F8"/>
                </a:solidFill>
              </a:rPr>
              <a:t> infrastructure.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rPr sz="2000" b="0" dirty="0">
                <a:solidFill>
                  <a:srgbClr val="E1F0F8"/>
                </a:solidFill>
              </a:rPr>
              <a:t>• Suitable for continuous activity monitoring.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170432"/>
            <a:ext cx="114300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161288"/>
            <a:ext cx="1463040" cy="41148"/>
          </a:xfrm>
          <a:prstGeom prst="rect">
            <a:avLst/>
          </a:prstGeom>
          <a:solidFill>
            <a:srgbClr val="3C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futuristic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back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40080" y="411480"/>
            <a:ext cx="10515600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dirty="0">
                <a:solidFill>
                  <a:srgbClr val="46DCFF"/>
                </a:solidFill>
                <a:latin typeface="Arial"/>
              </a:rPr>
              <a:t>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42416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rPr sz="2000" b="0" dirty="0">
                <a:solidFill>
                  <a:srgbClr val="E1F0F8"/>
                </a:solidFill>
              </a:rPr>
              <a:t>• Fall detection for elderly people living alone.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rPr sz="2000" b="0" dirty="0">
                <a:solidFill>
                  <a:srgbClr val="E1F0F8"/>
                </a:solidFill>
              </a:rPr>
              <a:t>• Human presence detection in smart homes.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rPr sz="2000" b="0" dirty="0">
                <a:solidFill>
                  <a:srgbClr val="E1F0F8"/>
                </a:solidFill>
              </a:rPr>
              <a:t>• Activity monitoring in healthcare facilities.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rPr sz="2000" b="0" dirty="0">
                <a:solidFill>
                  <a:srgbClr val="E1F0F8"/>
                </a:solidFill>
              </a:rPr>
              <a:t>• Occupancy and intrusion detection.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rPr sz="2000" b="0" dirty="0">
                <a:solidFill>
                  <a:srgbClr val="E1F0F8"/>
                </a:solidFill>
              </a:rPr>
              <a:t>• Emergency alerts after detecting a fall.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rPr sz="2000" b="0" dirty="0">
                <a:solidFill>
                  <a:srgbClr val="E1F0F8"/>
                </a:solidFill>
              </a:rPr>
              <a:t>• Contactless monitoring in places where cameras are not preferred.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170432"/>
            <a:ext cx="114300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869680" y="4160520"/>
            <a:ext cx="822960" cy="438912"/>
          </a:xfrm>
          <a:prstGeom prst="roundRect">
            <a:avLst/>
          </a:prstGeom>
          <a:solidFill>
            <a:srgbClr val="133953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12680" y="4160520"/>
            <a:ext cx="822960" cy="438912"/>
          </a:xfrm>
          <a:prstGeom prst="roundRect">
            <a:avLst/>
          </a:prstGeom>
          <a:solidFill>
            <a:srgbClr val="133953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869680" y="4800600"/>
            <a:ext cx="822960" cy="438912"/>
          </a:xfrm>
          <a:prstGeom prst="roundRect">
            <a:avLst/>
          </a:prstGeom>
          <a:solidFill>
            <a:srgbClr val="133953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012680" y="4800600"/>
            <a:ext cx="822960" cy="438912"/>
          </a:xfrm>
          <a:prstGeom prst="roundRect">
            <a:avLst/>
          </a:prstGeom>
          <a:solidFill>
            <a:srgbClr val="133953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869680" y="5440679"/>
            <a:ext cx="822960" cy="438912"/>
          </a:xfrm>
          <a:prstGeom prst="roundRect">
            <a:avLst/>
          </a:prstGeom>
          <a:solidFill>
            <a:srgbClr val="133953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012680" y="5440679"/>
            <a:ext cx="822960" cy="438912"/>
          </a:xfrm>
          <a:prstGeom prst="roundRect">
            <a:avLst/>
          </a:prstGeom>
          <a:solidFill>
            <a:srgbClr val="133953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8368" y="1161288"/>
            <a:ext cx="1463040" cy="41148"/>
          </a:xfrm>
          <a:prstGeom prst="rect">
            <a:avLst/>
          </a:prstGeom>
          <a:solidFill>
            <a:srgbClr val="3C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futuristic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back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22960" y="451859"/>
            <a:ext cx="10515600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dirty="0">
                <a:solidFill>
                  <a:srgbClr val="46DCFF"/>
                </a:solidFill>
                <a:latin typeface="Arial"/>
              </a:rP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rPr sz="2000" b="0" dirty="0">
                <a:solidFill>
                  <a:srgbClr val="E1F0F8"/>
                </a:solidFill>
              </a:rPr>
              <a:t>• Use deep learning models such as CNN and LSTM.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rPr sz="2000" b="0" dirty="0">
                <a:solidFill>
                  <a:srgbClr val="E1F0F8"/>
                </a:solidFill>
              </a:rPr>
              <a:t>• Add more activities such as sitting and standing.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rPr sz="2000" b="0" dirty="0">
                <a:solidFill>
                  <a:srgbClr val="E1F0F8"/>
                </a:solidFill>
              </a:rPr>
              <a:t>• Send fall alerts to a mobile phone or caregiver.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rPr sz="2000" b="0" dirty="0">
                <a:solidFill>
                  <a:srgbClr val="E1F0F8"/>
                </a:solidFill>
              </a:rPr>
              <a:t>• Run the model on an edge device for standalone operation.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rPr sz="2000" b="0" dirty="0">
                <a:solidFill>
                  <a:srgbClr val="E1F0F8"/>
                </a:solidFill>
              </a:rPr>
              <a:t>• Use multiple ESP32 pairs for multi-room monitoring.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rPr sz="2000" b="0" dirty="0">
                <a:solidFill>
                  <a:srgbClr val="E1F0F8"/>
                </a:solidFill>
              </a:rPr>
              <a:t>• Collect a larger dataset from different people and environments.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170432"/>
            <a:ext cx="114300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161288"/>
            <a:ext cx="1463040" cy="41148"/>
          </a:xfrm>
          <a:prstGeom prst="rect">
            <a:avLst/>
          </a:prstGeom>
          <a:solidFill>
            <a:srgbClr val="3C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futuristic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back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40080" y="411480"/>
            <a:ext cx="10515600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dirty="0">
                <a:solidFill>
                  <a:srgbClr val="46DCFF"/>
                </a:solidFill>
                <a:latin typeface="Arial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274083"/>
            <a:ext cx="102412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dirty="0">
                <a:solidFill>
                  <a:srgbClr val="E1F0F8"/>
                </a:solidFill>
                <a:latin typeface="Arial"/>
              </a:rPr>
              <a:t>The project presents a simple contactless approach for</a:t>
            </a:r>
            <a:endParaRPr lang="en-US" sz="2400" b="0" dirty="0">
              <a:solidFill>
                <a:srgbClr val="232323"/>
              </a:solidFill>
              <a:latin typeface="Arial"/>
            </a:endParaRPr>
          </a:p>
          <a:p>
            <a:pPr algn="ctr"/>
            <a:r>
              <a:rPr sz="2400" b="0" dirty="0">
                <a:solidFill>
                  <a:srgbClr val="E1F0F8"/>
                </a:solidFill>
                <a:latin typeface="Arial"/>
              </a:rPr>
              <a:t> human activity and fall detection using </a:t>
            </a:r>
            <a:r>
              <a:rPr sz="2400" b="0" dirty="0" err="1">
                <a:solidFill>
                  <a:srgbClr val="E1F0F8"/>
                </a:solidFill>
                <a:latin typeface="Arial"/>
              </a:rPr>
              <a:t>WiFi</a:t>
            </a:r>
            <a:r>
              <a:rPr sz="2400" b="0" dirty="0">
                <a:solidFill>
                  <a:srgbClr val="E1F0F8"/>
                </a:solidFill>
                <a:latin typeface="Arial"/>
              </a:rPr>
              <a:t>-CSI.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46294"/>
            <a:ext cx="932688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rPr sz="2000" b="0" dirty="0">
                <a:solidFill>
                  <a:srgbClr val="E1F0F8"/>
                </a:solidFill>
              </a:rPr>
              <a:t>• ESP32 is used to capture CSI information.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rPr sz="2000" b="0" dirty="0">
                <a:solidFill>
                  <a:srgbClr val="E1F0F8"/>
                </a:solidFill>
              </a:rPr>
              <a:t>• Signal processing is used to prepare the collected data.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rPr sz="2000" b="0" dirty="0">
                <a:solidFill>
                  <a:srgbClr val="E1F0F8"/>
                </a:solidFill>
              </a:rPr>
              <a:t>• Machine learning is used for activity classification.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rPr sz="2000" b="0" dirty="0">
                <a:solidFill>
                  <a:srgbClr val="E1F0F8"/>
                </a:solidFill>
              </a:rPr>
              <a:t>• The approach avoids cameras and wearable sensors.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170432"/>
            <a:ext cx="114300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1161288"/>
            <a:ext cx="1463040" cy="41148"/>
          </a:xfrm>
          <a:prstGeom prst="rect">
            <a:avLst/>
          </a:prstGeom>
          <a:solidFill>
            <a:srgbClr val="3C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614</Words>
  <Application>Microsoft Office PowerPoint</Application>
  <PresentationFormat>Widescreen</PresentationFormat>
  <Paragraphs>92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OUTPUT: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Lenovo</dc:creator>
  <cp:keywords/>
  <dc:description>generated using python-pptx</dc:description>
  <cp:lastModifiedBy>Malothu Rakesh</cp:lastModifiedBy>
  <cp:revision>22</cp:revision>
  <dcterms:created xsi:type="dcterms:W3CDTF">2013-01-27T09:14:16Z</dcterms:created>
  <dcterms:modified xsi:type="dcterms:W3CDTF">2026-09-29T09:06:10Z</dcterms:modified>
  <cp:category/>
</cp:coreProperties>
</file>